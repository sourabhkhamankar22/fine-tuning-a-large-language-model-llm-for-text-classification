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etrona Bold" charset="1" panose="00000000000000000000"/>
      <p:regular r:id="rId14"/>
    </p:embeddedFont>
    <p:embeddedFont>
      <p:font typeface="Inter" charset="1" panose="02000503000000020004"/>
      <p:regular r:id="rId15"/>
    </p:embeddedFont>
    <p:embeddedFont>
      <p:font typeface="Inter Bold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929403"/>
            <a:ext cx="9445523" cy="292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b="true" sz="612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Fine-Tuning a Large Language Model (LLM) for Text Classification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6176067"/>
            <a:ext cx="9445523" cy="122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b="true" sz="362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Applying Transfer Learning with DistilBERT for Sentiment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7637116"/>
            <a:ext cx="9445523" cy="532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286">
                <a:solidFill>
                  <a:srgbClr val="120336"/>
                </a:solidFill>
                <a:latin typeface="Inter"/>
                <a:ea typeface="Inter"/>
                <a:cs typeface="Inter"/>
                <a:sym typeface="Inter"/>
              </a:rPr>
              <a:t>Presenter: Sourabh Khamankar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430715" y="1691126"/>
            <a:ext cx="12999539" cy="10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6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Project Overview &amp; Objectives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4138" y="4356649"/>
            <a:ext cx="5226368" cy="3119237"/>
          </a:xfrm>
          <a:custGeom>
            <a:avLst/>
            <a:gdLst/>
            <a:ahLst/>
            <a:cxnLst/>
            <a:rect r="r" b="b" t="t" l="l"/>
            <a:pathLst>
              <a:path h="3119237" w="5226368">
                <a:moveTo>
                  <a:pt x="0" y="0"/>
                </a:moveTo>
                <a:lnTo>
                  <a:pt x="5226368" y="0"/>
                </a:lnTo>
                <a:lnTo>
                  <a:pt x="5226368" y="3119238"/>
                </a:lnTo>
                <a:lnTo>
                  <a:pt x="0" y="31192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54138" y="4356649"/>
            <a:ext cx="152400" cy="3115246"/>
            <a:chOff x="0" y="0"/>
            <a:chExt cx="203200" cy="41536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200" cy="4153662"/>
            </a:xfrm>
            <a:custGeom>
              <a:avLst/>
              <a:gdLst/>
              <a:ahLst/>
              <a:cxnLst/>
              <a:rect r="r" b="b" t="t" l="l"/>
              <a:pathLst>
                <a:path h="4153662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052062"/>
                  </a:lnTo>
                  <a:cubicBezTo>
                    <a:pt x="203200" y="4108196"/>
                    <a:pt x="157734" y="4153662"/>
                    <a:pt x="101600" y="4153662"/>
                  </a:cubicBezTo>
                  <a:cubicBezTo>
                    <a:pt x="45466" y="4153662"/>
                    <a:pt x="0" y="4108196"/>
                    <a:pt x="0" y="4052062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828992" y="4626102"/>
            <a:ext cx="1615764" cy="65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6"/>
              </a:lnSpc>
            </a:pPr>
            <a:r>
              <a:rPr lang="en-US" b="true" sz="40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Goal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4642" y="5303815"/>
            <a:ext cx="4487913" cy="161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Fine-tune a pre-trained LLM for binary sentiment classification.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83106" y="4337599"/>
            <a:ext cx="5283518" cy="3153346"/>
          </a:xfrm>
          <a:custGeom>
            <a:avLst/>
            <a:gdLst/>
            <a:ahLst/>
            <a:cxnLst/>
            <a:rect r="r" b="b" t="t" l="l"/>
            <a:pathLst>
              <a:path h="3153346" w="5283518">
                <a:moveTo>
                  <a:pt x="0" y="0"/>
                </a:moveTo>
                <a:lnTo>
                  <a:pt x="5283517" y="0"/>
                </a:lnTo>
                <a:lnTo>
                  <a:pt x="5283517" y="3153347"/>
                </a:lnTo>
                <a:lnTo>
                  <a:pt x="0" y="3153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483106" y="4356649"/>
            <a:ext cx="152400" cy="3115246"/>
            <a:chOff x="0" y="0"/>
            <a:chExt cx="203200" cy="41536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3200" cy="4153662"/>
            </a:xfrm>
            <a:custGeom>
              <a:avLst/>
              <a:gdLst/>
              <a:ahLst/>
              <a:cxnLst/>
              <a:rect r="r" b="b" t="t" l="l"/>
              <a:pathLst>
                <a:path h="4153662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052062"/>
                  </a:lnTo>
                  <a:cubicBezTo>
                    <a:pt x="203200" y="4108196"/>
                    <a:pt x="157734" y="4153662"/>
                    <a:pt x="101600" y="4153662"/>
                  </a:cubicBezTo>
                  <a:cubicBezTo>
                    <a:pt x="45466" y="4153662"/>
                    <a:pt x="0" y="4108196"/>
                    <a:pt x="0" y="4052062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839313" y="4602061"/>
            <a:ext cx="2609374" cy="69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6"/>
              </a:lnSpc>
            </a:pPr>
            <a:r>
              <a:rPr lang="en-US" b="true" sz="40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Core Focus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79828" y="5303815"/>
            <a:ext cx="4487913" cy="161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Large Language Models (LLMs), Transfer Learning, and NLP Pipelines.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031113" y="4337599"/>
            <a:ext cx="5618112" cy="3353048"/>
          </a:xfrm>
          <a:custGeom>
            <a:avLst/>
            <a:gdLst/>
            <a:ahLst/>
            <a:cxnLst/>
            <a:rect r="r" b="b" t="t" l="l"/>
            <a:pathLst>
              <a:path h="3353048" w="5618112">
                <a:moveTo>
                  <a:pt x="0" y="0"/>
                </a:moveTo>
                <a:lnTo>
                  <a:pt x="5618112" y="0"/>
                </a:lnTo>
                <a:lnTo>
                  <a:pt x="5618112" y="3353048"/>
                </a:lnTo>
                <a:lnTo>
                  <a:pt x="0" y="33530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012063" y="4356649"/>
            <a:ext cx="152400" cy="3115246"/>
            <a:chOff x="0" y="0"/>
            <a:chExt cx="203200" cy="41536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4153662"/>
            </a:xfrm>
            <a:custGeom>
              <a:avLst/>
              <a:gdLst/>
              <a:ahLst/>
              <a:cxnLst/>
              <a:rect r="r" b="b" t="t" l="l"/>
              <a:pathLst>
                <a:path h="4153662" w="203200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052062"/>
                  </a:lnTo>
                  <a:cubicBezTo>
                    <a:pt x="203200" y="4108196"/>
                    <a:pt x="157734" y="4153662"/>
                    <a:pt x="101600" y="4153662"/>
                  </a:cubicBezTo>
                  <a:cubicBezTo>
                    <a:pt x="45466" y="4153662"/>
                    <a:pt x="0" y="4108196"/>
                    <a:pt x="0" y="4052062"/>
                  </a:cubicBezTo>
                  <a:close/>
                </a:path>
              </a:pathLst>
            </a:custGeom>
            <a:solidFill>
              <a:srgbClr val="6237C8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915529" y="4602061"/>
            <a:ext cx="3514725" cy="69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6"/>
              </a:lnSpc>
            </a:pPr>
            <a:r>
              <a:rPr lang="en-US" b="true" sz="40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The Advantage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86084" y="5126241"/>
            <a:ext cx="4487913" cy="213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Leveraging transfer learning saves immense computational resources compared to training from scratch.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52946" y="2265378"/>
            <a:ext cx="8895683" cy="10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2"/>
              </a:lnSpc>
            </a:pPr>
            <a:r>
              <a:rPr lang="en-US" b="true" sz="6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The Technology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570209"/>
            <a:ext cx="9456391" cy="365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6604" indent="-188868" lvl="2">
              <a:lnSpc>
                <a:spcPts val="4705"/>
              </a:lnSpc>
              <a:buFont typeface="Arial"/>
              <a:buChar char="⚬"/>
            </a:pPr>
            <a:r>
              <a:rPr lang="en-US" b="true" sz="289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Model:</a:t>
            </a:r>
            <a:r>
              <a:rPr lang="en-US" sz="289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distilbert-base-uncased (A lighter, faster version of BERT).</a:t>
            </a:r>
          </a:p>
          <a:p>
            <a:pPr algn="l" marL="566604" indent="-188868" lvl="2">
              <a:lnSpc>
                <a:spcPts val="4705"/>
              </a:lnSpc>
              <a:buFont typeface="Arial"/>
              <a:buChar char="⚬"/>
            </a:pPr>
            <a:r>
              <a:rPr lang="en-US" b="true" sz="289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Frameworks:</a:t>
            </a:r>
            <a:r>
              <a:rPr lang="en-US" sz="289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Hugging Face (Transformers, Datasets, Evaluate) and PyTorch.</a:t>
            </a:r>
          </a:p>
          <a:p>
            <a:pPr algn="l" marL="566604" indent="-188868" lvl="2">
              <a:lnSpc>
                <a:spcPts val="4705"/>
              </a:lnSpc>
              <a:buFont typeface="Arial"/>
              <a:buChar char="⚬"/>
            </a:pPr>
            <a:r>
              <a:rPr lang="en-US" b="true" sz="289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Hardware:</a:t>
            </a:r>
            <a:r>
              <a:rPr lang="en-US" sz="289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GPU-accelerated environment (NVIDIA CUDA 11.8).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019321" y="1912696"/>
            <a:ext cx="10942263" cy="106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6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The Dataset &amp; Preprocessing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4508154"/>
            <a:ext cx="8214265" cy="2670429"/>
            <a:chOff x="0" y="0"/>
            <a:chExt cx="10952353" cy="35605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3560572"/>
            </a:xfrm>
            <a:custGeom>
              <a:avLst/>
              <a:gdLst/>
              <a:ahLst/>
              <a:cxnLst/>
              <a:rect r="r" b="b" t="t" l="l"/>
              <a:pathLst>
                <a:path h="3560572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288411"/>
                  </a:lnTo>
                  <a:cubicBezTo>
                    <a:pt x="10952353" y="3438779"/>
                    <a:pt x="10830433" y="3560572"/>
                    <a:pt x="10680192" y="3560572"/>
                  </a:cubicBezTo>
                  <a:lnTo>
                    <a:pt x="272161" y="3560572"/>
                  </a:lnTo>
                  <a:cubicBezTo>
                    <a:pt x="121920" y="3560572"/>
                    <a:pt x="0" y="3438652"/>
                    <a:pt x="0" y="3288411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4534643"/>
            <a:ext cx="7582710" cy="172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355" indent="-174118" lvl="2">
              <a:lnSpc>
                <a:spcPts val="4338"/>
              </a:lnSpc>
              <a:buFont typeface="Arial"/>
              <a:buChar char="⚬"/>
            </a:pPr>
            <a:r>
              <a:rPr lang="en-US" b="true" sz="26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Dataset:</a:t>
            </a:r>
            <a:r>
              <a:rPr lang="en-US" sz="266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IMDb Movie Review Dataset.</a:t>
            </a:r>
          </a:p>
          <a:p>
            <a:pPr algn="l" marL="522355" indent="-174118" lvl="2">
              <a:lnSpc>
                <a:spcPts val="4338"/>
              </a:lnSpc>
              <a:buFont typeface="Arial"/>
              <a:buChar char="⚬"/>
            </a:pPr>
            <a:r>
              <a:rPr lang="en-US" b="true" sz="266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Volume:</a:t>
            </a:r>
            <a:r>
              <a:rPr lang="en-US" sz="2663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25,000 training samples and 25,000 testing samples.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95209" y="4508154"/>
            <a:ext cx="8214265" cy="2670429"/>
            <a:chOff x="0" y="0"/>
            <a:chExt cx="10952353" cy="35605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52353" cy="3560572"/>
            </a:xfrm>
            <a:custGeom>
              <a:avLst/>
              <a:gdLst/>
              <a:ahLst/>
              <a:cxnLst/>
              <a:rect r="r" b="b" t="t" l="l"/>
              <a:pathLst>
                <a:path h="3560572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288411"/>
                  </a:lnTo>
                  <a:cubicBezTo>
                    <a:pt x="10952353" y="3438779"/>
                    <a:pt x="10830433" y="3560572"/>
                    <a:pt x="10680192" y="3560572"/>
                  </a:cubicBezTo>
                  <a:lnTo>
                    <a:pt x="272161" y="3560572"/>
                  </a:lnTo>
                  <a:cubicBezTo>
                    <a:pt x="121920" y="3560572"/>
                    <a:pt x="0" y="3438652"/>
                    <a:pt x="0" y="3288411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43099" y="4725143"/>
            <a:ext cx="3118485" cy="60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b="true" sz="37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78731" y="5353050"/>
            <a:ext cx="7647232" cy="166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>
                <a:solidFill>
                  <a:srgbClr val="120336"/>
                </a:solidFill>
                <a:latin typeface="Inter"/>
                <a:ea typeface="Inter"/>
                <a:cs typeface="Inter"/>
                <a:sym typeface="Inter"/>
              </a:rPr>
              <a:t>Raw text converted to numerical tokens and attention masks using DistilBERT's AutoTokenizer with truncation and padding.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466511" y="1292447"/>
            <a:ext cx="9706689" cy="103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7"/>
              </a:lnSpc>
            </a:pPr>
            <a:r>
              <a:rPr lang="en-US" b="true" sz="64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The Fine-Tuning Process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87476" y="3475139"/>
            <a:ext cx="5207698" cy="2614041"/>
          </a:xfrm>
          <a:custGeom>
            <a:avLst/>
            <a:gdLst/>
            <a:ahLst/>
            <a:cxnLst/>
            <a:rect r="r" b="b" t="t" l="l"/>
            <a:pathLst>
              <a:path h="2614041" w="5207698">
                <a:moveTo>
                  <a:pt x="0" y="0"/>
                </a:moveTo>
                <a:lnTo>
                  <a:pt x="5207698" y="0"/>
                </a:lnTo>
                <a:lnTo>
                  <a:pt x="5207698" y="2614041"/>
                </a:lnTo>
                <a:lnTo>
                  <a:pt x="0" y="2614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5284" y="3923557"/>
            <a:ext cx="141732" cy="141732"/>
            <a:chOff x="0" y="0"/>
            <a:chExt cx="188976" cy="1889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10480" y="3734838"/>
            <a:ext cx="4186980" cy="101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161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  Hugging Face Trainer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10480" y="4708322"/>
            <a:ext cx="4186980" cy="113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Utilized for optimized training.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540103" y="3475139"/>
            <a:ext cx="5207699" cy="2614041"/>
          </a:xfrm>
          <a:custGeom>
            <a:avLst/>
            <a:gdLst/>
            <a:ahLst/>
            <a:cxnLst/>
            <a:rect r="r" b="b" t="t" l="l"/>
            <a:pathLst>
              <a:path h="2614041" w="5207699">
                <a:moveTo>
                  <a:pt x="0" y="0"/>
                </a:moveTo>
                <a:lnTo>
                  <a:pt x="5207699" y="0"/>
                </a:lnTo>
                <a:lnTo>
                  <a:pt x="5207699" y="2614041"/>
                </a:lnTo>
                <a:lnTo>
                  <a:pt x="0" y="2614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837912" y="3923557"/>
            <a:ext cx="141732" cy="141732"/>
            <a:chOff x="0" y="0"/>
            <a:chExt cx="188976" cy="188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738424" y="3734838"/>
            <a:ext cx="3236357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161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Hyperparameters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63108" y="4220918"/>
            <a:ext cx="4186980" cy="1668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Learning rate of 2e-5, Batch size of 16, Weight decay of 0.01.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092730" y="3475139"/>
            <a:ext cx="5207698" cy="2614041"/>
          </a:xfrm>
          <a:custGeom>
            <a:avLst/>
            <a:gdLst/>
            <a:ahLst/>
            <a:cxnLst/>
            <a:rect r="r" b="b" t="t" l="l"/>
            <a:pathLst>
              <a:path h="2614041" w="5207698">
                <a:moveTo>
                  <a:pt x="0" y="0"/>
                </a:moveTo>
                <a:lnTo>
                  <a:pt x="5207699" y="0"/>
                </a:lnTo>
                <a:lnTo>
                  <a:pt x="5207699" y="2614041"/>
                </a:lnTo>
                <a:lnTo>
                  <a:pt x="0" y="26140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2390539" y="3923557"/>
            <a:ext cx="141732" cy="141732"/>
            <a:chOff x="0" y="0"/>
            <a:chExt cx="188976" cy="1889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072521" y="3734838"/>
            <a:ext cx="1673419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161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Duration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15735" y="4220918"/>
            <a:ext cx="4186980" cy="60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 Epochs.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87476" y="6646659"/>
            <a:ext cx="16312991" cy="1706785"/>
          </a:xfrm>
          <a:custGeom>
            <a:avLst/>
            <a:gdLst/>
            <a:ahLst/>
            <a:cxnLst/>
            <a:rect r="r" b="b" t="t" l="l"/>
            <a:pathLst>
              <a:path h="1706785" w="16312991">
                <a:moveTo>
                  <a:pt x="0" y="0"/>
                </a:moveTo>
                <a:lnTo>
                  <a:pt x="16312991" y="0"/>
                </a:lnTo>
                <a:lnTo>
                  <a:pt x="16312991" y="1706785"/>
                </a:lnTo>
                <a:lnTo>
                  <a:pt x="0" y="1706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85284" y="7095087"/>
            <a:ext cx="141732" cy="141732"/>
            <a:chOff x="0" y="0"/>
            <a:chExt cx="188976" cy="1889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8976" cy="188976"/>
            </a:xfrm>
            <a:custGeom>
              <a:avLst/>
              <a:gdLst/>
              <a:ahLst/>
              <a:cxnLst/>
              <a:rect r="r" b="b" t="t" l="l"/>
              <a:pathLst>
                <a:path h="188976" w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3371A5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956409" y="6837378"/>
            <a:ext cx="2375183" cy="49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6"/>
              </a:lnSpc>
            </a:pPr>
            <a:r>
              <a:rPr lang="en-US" sz="3161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Strategy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60721" y="7393162"/>
            <a:ext cx="15292235" cy="60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Monitored validation loss to automatically load the best model weights at the 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75178" y="2309755"/>
            <a:ext cx="8788422" cy="106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6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Performance &amp; 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9562" y="4033828"/>
            <a:ext cx="16303523" cy="60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model successfully adapted to the specific classification task with highly accurate results.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5730478"/>
            <a:ext cx="5198269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sz="7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92.32%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2024" y="6734470"/>
            <a:ext cx="3898554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Final 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5730478"/>
            <a:ext cx="5198269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sz="7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92.14%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94652" y="6734470"/>
            <a:ext cx="3898554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Final F1-Score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97493" y="5730478"/>
            <a:ext cx="5198269" cy="68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sz="731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0.1977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47279" y="6734470"/>
            <a:ext cx="3898554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2"/>
              </a:lnSpc>
            </a:pPr>
            <a:r>
              <a:rPr lang="en-US" sz="3062" b="true">
                <a:solidFill>
                  <a:srgbClr val="272525"/>
                </a:solidFill>
                <a:latin typeface="Petrona Bold"/>
                <a:ea typeface="Petrona Bold"/>
                <a:cs typeface="Petrona Bold"/>
                <a:sym typeface="Petrona Bold"/>
              </a:rPr>
              <a:t>Validation Loss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227563"/>
            <a:ext cx="7885062" cy="107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b="true" sz="6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Live Inference 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62836" y="2904858"/>
            <a:ext cx="9445523" cy="113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model successfully predicts sentiment on unseen, custom text.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8973" y="4634360"/>
            <a:ext cx="9020327" cy="161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Example 1:</a:t>
            </a:r>
            <a:r>
              <a:rPr lang="en-US" sz="24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"The pacing was a bit slow, but the cinematography was absolutely breathtaking!" -&gt; Predicted: Positive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8973" y="6512376"/>
            <a:ext cx="9020327" cy="1102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6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Example 2:</a:t>
            </a:r>
            <a:r>
              <a:rPr lang="en-US" sz="2486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"I honestly couldn't wait for this movie to end. Terrible acting." -&gt; Predicted: Negative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0238" y="4843910"/>
            <a:ext cx="38100" cy="2771299"/>
            <a:chOff x="0" y="0"/>
            <a:chExt cx="50800" cy="3695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3695065"/>
            </a:xfrm>
            <a:custGeom>
              <a:avLst/>
              <a:gdLst/>
              <a:ahLst/>
              <a:cxnLst/>
              <a:rect r="r" b="b" t="t" l="l"/>
              <a:pathLst>
                <a:path h="3695065" w="50800">
                  <a:moveTo>
                    <a:pt x="0" y="0"/>
                  </a:moveTo>
                  <a:lnTo>
                    <a:pt x="50800" y="0"/>
                  </a:lnTo>
                  <a:lnTo>
                    <a:pt x="50800" y="3695065"/>
                  </a:lnTo>
                  <a:lnTo>
                    <a:pt x="0" y="3695065"/>
                  </a:lnTo>
                  <a:close/>
                </a:path>
              </a:pathLst>
            </a:custGeom>
            <a:solidFill>
              <a:srgbClr val="6237C8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2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DFAF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592" y="1886683"/>
            <a:ext cx="16125234" cy="1050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4"/>
              </a:lnSpc>
            </a:pPr>
            <a:r>
              <a:rPr lang="en-US" b="true" sz="612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Petrona Bold"/>
                <a:ea typeface="Petrona Bold"/>
                <a:cs typeface="Petrona Bold"/>
                <a:sym typeface="Petrona Bold"/>
              </a:rPr>
              <a:t>Strengths &amp; Limitations of Pre-Trained LLMs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4487018"/>
            <a:ext cx="8214265" cy="2712625"/>
            <a:chOff x="0" y="0"/>
            <a:chExt cx="10952353" cy="36168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3616833"/>
            </a:xfrm>
            <a:custGeom>
              <a:avLst/>
              <a:gdLst/>
              <a:ahLst/>
              <a:cxnLst/>
              <a:rect r="r" b="b" t="t" l="l"/>
              <a:pathLst>
                <a:path h="3616833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344672"/>
                  </a:lnTo>
                  <a:cubicBezTo>
                    <a:pt x="10952353" y="3495040"/>
                    <a:pt x="10830433" y="3616833"/>
                    <a:pt x="10680192" y="3616833"/>
                  </a:cubicBezTo>
                  <a:lnTo>
                    <a:pt x="272161" y="3616833"/>
                  </a:lnTo>
                  <a:cubicBezTo>
                    <a:pt x="121920" y="3616960"/>
                    <a:pt x="0" y="3495040"/>
                    <a:pt x="0" y="3344672"/>
                  </a:cubicBezTo>
                  <a:close/>
                </a:path>
              </a:pathLst>
            </a:custGeom>
            <a:solidFill>
              <a:srgbClr val="120336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3776956" y="4628131"/>
            <a:ext cx="2236435" cy="496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161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Strengths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5350964"/>
            <a:ext cx="7647232" cy="146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Highly accurate with small task-specific datasets</a:t>
            </a:r>
          </a:p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Out-of-the-box generalization</a:t>
            </a:r>
          </a:p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Massive time savings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95209" y="4487018"/>
            <a:ext cx="8214265" cy="2712625"/>
            <a:chOff x="0" y="0"/>
            <a:chExt cx="10952353" cy="36168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52353" cy="3616833"/>
            </a:xfrm>
            <a:custGeom>
              <a:avLst/>
              <a:gdLst/>
              <a:ahLst/>
              <a:cxnLst/>
              <a:rect r="r" b="b" t="t" l="l"/>
              <a:pathLst>
                <a:path h="3616833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344672"/>
                  </a:lnTo>
                  <a:cubicBezTo>
                    <a:pt x="10952353" y="3495040"/>
                    <a:pt x="10830433" y="3616833"/>
                    <a:pt x="10680192" y="3616833"/>
                  </a:cubicBezTo>
                  <a:lnTo>
                    <a:pt x="272161" y="3616833"/>
                  </a:lnTo>
                  <a:cubicBezTo>
                    <a:pt x="121920" y="3616960"/>
                    <a:pt x="0" y="3495040"/>
                    <a:pt x="0" y="3344672"/>
                  </a:cubicBezTo>
                  <a:close/>
                </a:path>
              </a:pathLst>
            </a:custGeom>
            <a:solidFill>
              <a:srgbClr val="12033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319654" y="4628131"/>
            <a:ext cx="2165394" cy="5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3161" b="true">
                <a:solidFill>
                  <a:srgbClr val="FFFFFF"/>
                </a:solidFill>
                <a:latin typeface="Petrona Bold"/>
                <a:ea typeface="Petrona Bold"/>
                <a:cs typeface="Petrona Bold"/>
                <a:sym typeface="Petrona Bold"/>
              </a:rPr>
              <a:t>Limitations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8731" y="5350964"/>
            <a:ext cx="7647232" cy="146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be memory-intensive</a:t>
            </a:r>
          </a:p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May inherit biases from massive original training data</a:t>
            </a:r>
          </a:p>
          <a:p>
            <a:pPr algn="l" marL="448419" indent="-149473" lvl="2">
              <a:lnSpc>
                <a:spcPts val="3724"/>
              </a:lnSpc>
              <a:buFont typeface="Arial"/>
              <a:buChar char="⚬"/>
            </a:pPr>
            <a:r>
              <a:rPr lang="en-US" sz="228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Operates as a "black box" lacking direct explainability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DAHCDBqOyDg</dc:identifier>
  <dcterms:modified xsi:type="dcterms:W3CDTF">2011-08-01T06:04:30Z</dcterms:modified>
  <cp:revision>1</cp:revision>
  <dc:title>Fine-Tuning a Large Language Model (LLM) for Text Classification.pptx</dc:title>
</cp:coreProperties>
</file>